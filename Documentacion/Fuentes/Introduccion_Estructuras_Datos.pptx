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oppins Light"/>
      <p:regular r:id="rId17"/>
    </p:embeddedFont>
    <p:embeddedFont>
      <p:font typeface="Poppins Light"/>
      <p:regular r:id="rId18"/>
    </p:embeddedFont>
    <p:embeddedFont>
      <p:font typeface="Poppins Light"/>
      <p:regular r:id="rId19"/>
    </p:embeddedFont>
    <p:embeddedFont>
      <p:font typeface="Poppins Light"/>
      <p:regular r:id="rId20"/>
    </p:embeddedFont>
    <p:embeddedFont>
      <p:font typeface="Roboto Light"/>
      <p:regular r:id="rId21"/>
    </p:embeddedFont>
    <p:embeddedFont>
      <p:font typeface="Roboto Light"/>
      <p:regular r:id="rId22"/>
    </p:embeddedFont>
    <p:embeddedFont>
      <p:font typeface="Roboto Light"/>
      <p:regular r:id="rId23"/>
    </p:embeddedFont>
    <p:embeddedFont>
      <p:font typeface="Roboto Light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1379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Introducción a las Estructuras de Datos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7151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Definición y Clasificación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089565"/>
            <a:ext cx="2620923" cy="426244"/>
          </a:xfrm>
          <a:prstGeom prst="roundRect">
            <a:avLst>
              <a:gd name="adj" fmla="val 17880"/>
            </a:avLst>
          </a:prstGeom>
          <a:solidFill>
            <a:srgbClr val="252528"/>
          </a:solidFill>
          <a:ln/>
        </p:spPr>
      </p:sp>
      <p:sp>
        <p:nvSpPr>
          <p:cNvPr id="6" name="Text 3"/>
          <p:cNvSpPr/>
          <p:nvPr/>
        </p:nvSpPr>
        <p:spPr>
          <a:xfrm>
            <a:off x="6416278" y="5157549"/>
            <a:ext cx="234874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DESARROLLO DE SOFTWARE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9988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Definición de Estructuras de Datos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75760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Una estructura de datos es una forma particular de organizar, almacenar y gestionar información en un sistema informático, permitiendo su acceso y modificación eficiente.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101465"/>
            <a:ext cx="2367558" cy="3128129"/>
          </a:xfrm>
          <a:prstGeom prst="roundRect">
            <a:avLst>
              <a:gd name="adj" fmla="val 402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8224" y="4335899"/>
            <a:ext cx="18986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Organización Lógica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5180647"/>
            <a:ext cx="18986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Establecen relaciones específicas entre los elementos de datos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3388162" y="4101465"/>
            <a:ext cx="2367558" cy="3128129"/>
          </a:xfrm>
          <a:prstGeom prst="roundRect">
            <a:avLst>
              <a:gd name="adj" fmla="val 402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22596" y="4335899"/>
            <a:ext cx="18986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Operaciones Definidas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622596" y="5180647"/>
            <a:ext cx="18986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Cada estructura define operaciones para insertar, eliminar y consultar datos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2533" y="4101465"/>
            <a:ext cx="2367558" cy="3128129"/>
          </a:xfrm>
          <a:prstGeom prst="roundRect">
            <a:avLst>
              <a:gd name="adj" fmla="val 402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6968" y="4335899"/>
            <a:ext cx="18986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Abstracción de Datos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216968" y="5180647"/>
            <a:ext cx="18986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Separan la implementación física de la representación lógica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8308"/>
            <a:ext cx="112777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Importancia de las Estructuras de Datos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92072"/>
            <a:ext cx="8284131" cy="46942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024063"/>
            <a:ext cx="36102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Eficiencia Computacional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2605207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elección correcta de una estructura de datos determina directamente el rendimiento y la escalabilidad de un sistema de software.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4260890"/>
            <a:ext cx="4205168" cy="290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Optimización del uso de memoria RAM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Reducción del tiempo de ejecución de algoritmos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Mejora en la velocidad de acceso a la información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Aprovechamiento eficiente de recursos del sistema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6246"/>
            <a:ext cx="73078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Características Generales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58653"/>
            <a:ext cx="2411968" cy="24119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254109"/>
            <a:ext cx="28689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Organización Lógica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74452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Los datos se organizan siguiendo patrones específicos que reflejan las relaciones entre elementos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558653"/>
            <a:ext cx="2411968" cy="2411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254109"/>
            <a:ext cx="3757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Dependencia del Contexto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74452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estructura seleccionada debe adaptarse a la naturaleza del problema computacional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558653"/>
            <a:ext cx="2411968" cy="24119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2541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Encapsulamiento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74452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Ocultan la complejidad interna exponiendo únicamente las operaciones esenciales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9825" y="803910"/>
            <a:ext cx="7677150" cy="130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Clasificación de las Estructuras de Datos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219825" y="2403991"/>
            <a:ext cx="7677150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Las estructuras de datos se clasifican según múltiples criterios que atienden a su organización lógica, su comportamiento en memoria y su forma de acceso.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6219825" y="3266599"/>
            <a:ext cx="7677150" cy="1257300"/>
          </a:xfrm>
          <a:prstGeom prst="roundRect">
            <a:avLst>
              <a:gd name="adj" fmla="val 7000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42685" y="3289459"/>
            <a:ext cx="838200" cy="1211580"/>
          </a:xfrm>
          <a:prstGeom prst="roundRect">
            <a:avLst>
              <a:gd name="adj" fmla="val 7228"/>
            </a:avLst>
          </a:prstGeom>
          <a:solidFill>
            <a:srgbClr val="3D3D42"/>
          </a:solidFill>
          <a:ln/>
        </p:spPr>
      </p:sp>
      <p:sp>
        <p:nvSpPr>
          <p:cNvPr id="7" name="Text 4"/>
          <p:cNvSpPr/>
          <p:nvPr/>
        </p:nvSpPr>
        <p:spPr>
          <a:xfrm>
            <a:off x="6500813" y="3698796"/>
            <a:ext cx="314325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7274481" y="3499009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Por Organización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274481" y="3942517"/>
            <a:ext cx="6390084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Lineales vs. No Lineales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19825" y="4717494"/>
            <a:ext cx="7677150" cy="1257300"/>
          </a:xfrm>
          <a:prstGeom prst="roundRect">
            <a:avLst>
              <a:gd name="adj" fmla="val 7000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42685" y="4740354"/>
            <a:ext cx="838200" cy="1211580"/>
          </a:xfrm>
          <a:prstGeom prst="roundRect">
            <a:avLst>
              <a:gd name="adj" fmla="val 7228"/>
            </a:avLst>
          </a:prstGeom>
          <a:solidFill>
            <a:srgbClr val="3D3D42"/>
          </a:solidFill>
          <a:ln/>
        </p:spPr>
      </p:sp>
      <p:sp>
        <p:nvSpPr>
          <p:cNvPr id="12" name="Text 9"/>
          <p:cNvSpPr/>
          <p:nvPr/>
        </p:nvSpPr>
        <p:spPr>
          <a:xfrm>
            <a:off x="6500813" y="5149691"/>
            <a:ext cx="314325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7274481" y="4949904"/>
            <a:ext cx="3103959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Por Gestión de Memoria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7274481" y="5393412"/>
            <a:ext cx="6390084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Estáticas vs. Dinámicas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6219825" y="6168390"/>
            <a:ext cx="7677150" cy="1257300"/>
          </a:xfrm>
          <a:prstGeom prst="roundRect">
            <a:avLst>
              <a:gd name="adj" fmla="val 7000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42685" y="6191250"/>
            <a:ext cx="838200" cy="1211580"/>
          </a:xfrm>
          <a:prstGeom prst="roundRect">
            <a:avLst>
              <a:gd name="adj" fmla="val 7228"/>
            </a:avLst>
          </a:prstGeom>
          <a:solidFill>
            <a:srgbClr val="3D3D42"/>
          </a:solidFill>
          <a:ln/>
        </p:spPr>
      </p:sp>
      <p:sp>
        <p:nvSpPr>
          <p:cNvPr id="17" name="Text 14"/>
          <p:cNvSpPr/>
          <p:nvPr/>
        </p:nvSpPr>
        <p:spPr>
          <a:xfrm>
            <a:off x="6500813" y="6600587"/>
            <a:ext cx="314325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7274481" y="6400800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Por Tipo de Acceso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7274481" y="6844308"/>
            <a:ext cx="6390084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Secuencial vs. Directo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7111" y="547688"/>
            <a:ext cx="7201019" cy="622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Estructuras de Datos Lineales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2027" y="1629013"/>
            <a:ext cx="5963364" cy="59632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11240" y="2748306"/>
            <a:ext cx="1921476" cy="301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Elemento 1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511240" y="3135482"/>
            <a:ext cx="1921476" cy="452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Inicio de la secuencia, sin predecesor.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05010" y="2748306"/>
            <a:ext cx="1921477" cy="301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Elemento 2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05010" y="3135482"/>
            <a:ext cx="1921477" cy="452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Conectado al anterior y al siguiente.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11407" y="5528703"/>
            <a:ext cx="1921476" cy="301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Elemento 3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2511407" y="5915878"/>
            <a:ext cx="1921476" cy="67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Intermedio que mantiene enlace bidireccional.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05010" y="5641908"/>
            <a:ext cx="1921477" cy="30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Elemento 4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405010" y="6029084"/>
            <a:ext cx="1921477" cy="452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Final de la secuencia, sin sucesor.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624060" y="2686407"/>
            <a:ext cx="2489835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Definición Técnica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9624060" y="3172420"/>
            <a:ext cx="4316730" cy="149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Estructuras donde los elementos se organizan secuencialmente, estableciendo una relación de orden donde cada elemento tiene un único predecesor y un único sucesor, excepto el primero y el último.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9624060" y="4843343"/>
            <a:ext cx="3884414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Características Fundamentales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624060" y="5329357"/>
            <a:ext cx="4316730" cy="119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Relación uno a uno entre elementos adyacentes</a:t>
            </a:r>
            <a:endParaRPr lang="en-US" sz="155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Recorrido secuencial desde inicio a fin</a:t>
            </a:r>
            <a:endParaRPr lang="en-US" sz="155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Acceso posicional mediante índices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6710"/>
            <a:ext cx="90773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Ejemplos de Estructuras Lineales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59117"/>
            <a:ext cx="1097280" cy="678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74558" y="2459117"/>
            <a:ext cx="166723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Arreglos (Arrays)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74558" y="3303865"/>
            <a:ext cx="1667232" cy="3629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Colección de elementos del mismo tipo almacenados en posiciones contiguas de memoria con acceso directo mediante índices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2459117"/>
            <a:ext cx="1097280" cy="6780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06045" y="2459117"/>
            <a:ext cx="166735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Listas Enlazadas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506045" y="3303865"/>
            <a:ext cx="1667351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Secuencia de nodos donde cada elemento contiene datos y referencias al siguiente nodo en la cadena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2459117"/>
            <a:ext cx="1097280" cy="6780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37652" y="2459117"/>
            <a:ext cx="166735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Pilas (Stacks)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837652" y="3303865"/>
            <a:ext cx="1667351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Estructura LIFO donde inserción y eliminación ocurren en el mismo extremo denominado tope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2459117"/>
            <a:ext cx="1097280" cy="67806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169259" y="2459117"/>
            <a:ext cx="166735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Colas (Queues)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2169259" y="3303865"/>
            <a:ext cx="166735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Estructura FIFO con inserción por un extremo y eliminación por el extremo opuesto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7817"/>
            <a:ext cx="91079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Estructuras de Datos No Lineales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035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Definición Técnica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484715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Estructuras donde los elementos establecen relaciones jerárquicas o de red, permitiendo que un elemento se conecte con múltiples elementos sin seguir una secuencia única.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26042"/>
            <a:ext cx="36305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Características Distintivas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107186"/>
            <a:ext cx="4205168" cy="217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Relaciones uno a muchos o muchos a muchos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Organización jerárquica o en red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Múltiples caminos de acceso posibles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Representación de relaciones complejas</a:t>
            </a:r>
            <a:endParaRPr lang="en-US" sz="1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981" y="2292072"/>
            <a:ext cx="8284131" cy="46942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4795"/>
            <a:ext cx="99856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Ejemplos de Estructuras No Lineales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77202"/>
            <a:ext cx="2411968" cy="24119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0726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Árboles (Trees)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56307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Estructura jerárquica con un nodo raíz y subárboles donde cada nodo puede tener múltiples descendientes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377202"/>
            <a:ext cx="2411968" cy="2411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0726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Grafos (Graphs)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563076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Conjunto de vértices conectados mediante aristas, representando relaciones complejas sin restricciones jerárquicas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377202"/>
            <a:ext cx="2411968" cy="24119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0726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Tablas Hash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56307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Estructura que mapea claves a valores mediante funciones hash para acceso en tiempo constante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8553" y="1292423"/>
            <a:ext cx="8528090" cy="503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Clasificación según la Gestión de Memoria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7303651" y="2024420"/>
            <a:ext cx="22860" cy="4563785"/>
          </a:xfrm>
          <a:prstGeom prst="roundRect">
            <a:avLst>
              <a:gd name="adj" fmla="val 295913"/>
            </a:avLst>
          </a:prstGeom>
          <a:solidFill>
            <a:srgbClr val="56565B"/>
          </a:solidFill>
          <a:ln/>
        </p:spPr>
      </p:sp>
      <p:sp>
        <p:nvSpPr>
          <p:cNvPr id="4" name="Shape 2"/>
          <p:cNvSpPr/>
          <p:nvPr/>
        </p:nvSpPr>
        <p:spPr>
          <a:xfrm>
            <a:off x="1735693" y="2024420"/>
            <a:ext cx="5556528" cy="2167533"/>
          </a:xfrm>
          <a:prstGeom prst="roundRect">
            <a:avLst>
              <a:gd name="adj" fmla="val 312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5992" y="2193012"/>
            <a:ext cx="2055257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Estructuras Estáticas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904286" y="2513171"/>
            <a:ext cx="5226963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tamaño y la ubicación en memoria se definen en tiempo de compilación y permanecen fijos durante la ejecución del programa.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904286" y="3022283"/>
            <a:ext cx="5226963" cy="881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Asignación de memoria en tiempo de compilación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Tamaño fijo e inmutable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Mayor eficiencia en el acceso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Ejemplo: arreglos tradicionales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37941" y="4300951"/>
            <a:ext cx="5556647" cy="2167533"/>
          </a:xfrm>
          <a:prstGeom prst="rect">
            <a:avLst/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913" y="4469543"/>
            <a:ext cx="2229326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Estructuras Dinámicas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498913" y="4789702"/>
            <a:ext cx="5227082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tamaño puede variar durante la ejecución, asignando y liberando memoria según las necesidades del programa en tiempo de ejecución.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98913" y="5298814"/>
            <a:ext cx="5227082" cy="881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Asignación de memoria en tiempo de ejecución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Tamaño variable y adaptable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Uso eficiente de recursos disponibles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Ejemplo: listas enlazadas, árboles dinámicos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758553" y="6477350"/>
            <a:ext cx="11113175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Esta clasificación es fundamental para comprender el comportamiento de las aplicaciones y optimizar el uso de recursos del sistema operativo.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2026-02-09T21:14:52Z</dcterms:created>
  <dcterms:modified xsi:type="dcterms:W3CDTF">2026-02-09T21:14:52Z</dcterms:modified>
</cp:coreProperties>
</file>